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22860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64592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164592" cy="22860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C55E"/>
                </a:solidFill>
                <a:latin typeface="Segoe UI"/>
              </a:rPr>
              <a:t>AI-Powered Event Traffic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E6E7EA"/>
                </a:solidFill>
                <a:latin typeface="Segoe UI"/>
              </a:rPr>
              <a:t>Karnataka Police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03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9AA0A8"/>
                </a:solidFill>
                <a:latin typeface="Segoe UI"/>
              </a:rPr>
              <a:t>RAG + Agentic LLM + MCP + ISO-27001/GDPR for event-driven congestion mitigation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572000"/>
            <a:ext cx="1975104" cy="292608"/>
          </a:xfrm>
          <a:prstGeom prst="roundRect">
            <a:avLst>
              <a:gd name="adj" fmla="val 50000"/>
            </a:avLst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19751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CatBoost AUC 0.815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9584" y="4572000"/>
            <a:ext cx="2084831" cy="2926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4572000"/>
            <a:ext cx="208483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8,219-doc FAISS RAG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97295" y="4572000"/>
            <a:ext cx="1865376" cy="292608"/>
          </a:xfrm>
          <a:prstGeom prst="roundRect">
            <a:avLst>
              <a:gd name="adj" fmla="val 50000"/>
            </a:avLst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97295" y="4572000"/>
            <a:ext cx="186537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9-tool MCP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45551" y="4572000"/>
            <a:ext cx="1755648" cy="292608"/>
          </a:xfrm>
          <a:prstGeom prst="roundRect">
            <a:avLst>
              <a:gd name="adj" fmla="val 50000"/>
            </a:avLst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1" y="4572000"/>
            <a:ext cx="175564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ISO 27001 + GDPR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79" y="457200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79" y="4572000"/>
            <a:ext cx="9875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43 pytest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126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Flipkart Hackathon 2026 · Bengaluru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Why event-driven traffic is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Generic time-series + ML models miss the spikes that matter most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C3333"/>
                </a:solidFill>
                <a:latin typeface="Segoe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5212080" cy="3977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Models trained on historical flow data treat every Tuesday at 6pm the same way.
But a cricket match at Chinnaswamy Stadium, a VIP convoy on Mysore Road, a monsoon water-logging on Bellary Road, or a sudden protest at Vidhana Soudha completely reshape traffic in ways no historical pattern can capture.
Traffic officers learn about these events too late — usually when WhatsApp groups light up. By then the jam is already an hour deep.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Segoe UI"/>
              </a:rPr>
              <a:t>The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5212080" cy="3977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Real-time news + social signals + a domain-specific dataset can give the model the event awareness it's missing.
Combine that with a Retrieval-Augmented Generation pipeline that recalls similar past events, an LLM that synthesises an officer-ready briefing, and a planner that outputs concrete numbers (officers, barricades, diversion route) — and you get actionable mitigation, not just prediction.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From raw event to officer briefing in one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828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76AFF"/>
                </a:solidFill>
                <a:latin typeface="Segoe UI"/>
              </a:rPr>
              <a:t>Natural-language
query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743200.0"/>
            <a:ext cx="118872" cy="0.0"/>
          </a:xfrm>
          <a:prstGeom prst="bentConnector3">
            <a:avLst/>
          </a:prstGeom>
          <a:ln w="25400">
            <a:solidFill>
              <a:srgbClr val="9AA0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04872" y="2103120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872" y="2103120"/>
            <a:ext cx="1828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9933"/>
                </a:solidFill>
                <a:latin typeface="Segoe UI"/>
              </a:rPr>
              <a:t>LLM extracts
event attrs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33672" y="2743200.0"/>
            <a:ext cx="118872" cy="0.0"/>
          </a:xfrm>
          <a:prstGeom prst="bentConnector3">
            <a:avLst/>
          </a:prstGeom>
          <a:ln w="25400">
            <a:solidFill>
              <a:srgbClr val="9AA0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52544" y="2103120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2103120"/>
            <a:ext cx="1828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2C55E"/>
                </a:solidFill>
                <a:latin typeface="Segoe UI"/>
              </a:rPr>
              <a:t>CatBoost
predicts closure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81344" y="2743200.0"/>
            <a:ext cx="118872" cy="0.0"/>
          </a:xfrm>
          <a:prstGeom prst="bentConnector3">
            <a:avLst/>
          </a:prstGeom>
          <a:ln w="25400">
            <a:solidFill>
              <a:srgbClr val="9AA0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0216" y="2103120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2103120"/>
            <a:ext cx="1828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366CC"/>
                </a:solidFill>
                <a:latin typeface="Segoe UI"/>
              </a:rPr>
              <a:t>Planner →
officers/barricades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29016" y="2743200.0"/>
            <a:ext cx="118872" cy="0.0"/>
          </a:xfrm>
          <a:prstGeom prst="bentConnector3">
            <a:avLst/>
          </a:prstGeom>
          <a:ln w="25400">
            <a:solidFill>
              <a:srgbClr val="9AA0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47888" y="2103120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103120"/>
            <a:ext cx="1828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C3333"/>
                </a:solidFill>
                <a:latin typeface="Segoe UI"/>
              </a:rPr>
              <a:t>RAG +
realtime context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76688" y="2743200.0"/>
            <a:ext cx="118872" cy="0.0"/>
          </a:xfrm>
          <a:prstGeom prst="bentConnector3">
            <a:avLst/>
          </a:prstGeom>
          <a:ln w="25400">
            <a:solidFill>
              <a:srgbClr val="9AA0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195560" y="2103120"/>
            <a:ext cx="1828800" cy="128016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103120"/>
            <a:ext cx="1828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76AFF"/>
                </a:solidFill>
                <a:latin typeface="Segoe UI"/>
              </a:rPr>
              <a:t>LLM writes
officer briefing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0A8"/>
                </a:solidFill>
                <a:latin typeface="Segoe UI"/>
              </a:rPr>
              <a:t>Data feeders (continuous)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34840"/>
            <a:ext cx="3182112" cy="292608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31821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Astram dataset · 8,173 events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67912" y="44348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67912" y="4434840"/>
            <a:ext cx="21945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Open-Meteo (weather)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4434840"/>
            <a:ext cx="2523744" cy="292608"/>
          </a:xfrm>
          <a:prstGeom prst="roundRect">
            <a:avLst>
              <a:gd name="adj" fmla="val 50000"/>
            </a:avLst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4434840"/>
            <a:ext cx="2523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Google News RSS (India)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0536" y="4434840"/>
            <a:ext cx="4059935" cy="292608"/>
          </a:xfrm>
          <a:prstGeom prst="roundRect">
            <a:avLst>
              <a:gd name="adj" fmla="val 50000"/>
            </a:avLst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0536" y="4434840"/>
            <a:ext cx="40599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Reddit RSS (r/bangalore, r/karnataka)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92040"/>
            <a:ext cx="2414015" cy="292608"/>
          </a:xfrm>
          <a:prstGeom prst="roundRect">
            <a:avLst>
              <a:gd name="adj" fmla="val 50000"/>
            </a:avLst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892040"/>
            <a:ext cx="24140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GDELT 2.0 (geo events)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99815" y="4892040"/>
            <a:ext cx="3072384" cy="2926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99815" y="4892040"/>
            <a:ext cx="307238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OSRM (real diversion routes)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59" y="4892040"/>
            <a:ext cx="2523744" cy="292608"/>
          </a:xfrm>
          <a:prstGeom prst="roundRect">
            <a:avLst>
              <a:gd name="adj" fmla="val 50000"/>
            </a:avLst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59" y="4892040"/>
            <a:ext cx="2523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data.gov.in (Karnataka)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349240"/>
            <a:ext cx="2084832" cy="118872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486400"/>
            <a:ext cx="2084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Events trained 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85216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376AFF"/>
                </a:solidFill>
                <a:latin typeface="Segoe UI"/>
              </a:rPr>
              <a:t>8,173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79192" y="5349240"/>
            <a:ext cx="2084832" cy="118872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79192" y="5486400"/>
            <a:ext cx="2084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FAISS docs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79192" y="585216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2C55E"/>
                </a:solidFill>
                <a:latin typeface="Segoe UI"/>
              </a:rPr>
              <a:t>8,219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01184" y="5349240"/>
            <a:ext cx="2084832" cy="118872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01184" y="5486400"/>
            <a:ext cx="2084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Model AUC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01184" y="585216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9933"/>
                </a:solidFill>
                <a:latin typeface="Segoe UI"/>
              </a:rPr>
              <a:t>0.815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23176" y="5349240"/>
            <a:ext cx="2084832" cy="118872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23176" y="5486400"/>
            <a:ext cx="2084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Tests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23176" y="585216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3366CC"/>
                </a:solidFill>
                <a:latin typeface="Segoe UI"/>
              </a:rPr>
              <a:t>43 passing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45168" y="5349240"/>
            <a:ext cx="2084832" cy="118872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45168" y="5486400"/>
            <a:ext cx="2084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MCP tools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45168" y="585216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CC3333"/>
                </a:solidFill>
                <a:latin typeface="Segoe UI"/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All open-source · all production-grade · one Dockerfile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749039" cy="237744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5564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76AFF"/>
                </a:solidFill>
                <a:latin typeface="Segoe UI"/>
              </a:rPr>
              <a:t>ML /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03120"/>
            <a:ext cx="347471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CatBoost (gradient boosting)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scikit-learn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imbalanced-learn (SMOTE-NC)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pandas + numpy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Optuna (hyperparam search)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399" y="1645920"/>
            <a:ext cx="3749039" cy="237744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1" y="175564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76AFF"/>
                </a:solidFill>
                <a:latin typeface="Segoe UI"/>
              </a:rPr>
              <a:t>RAG /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1" y="2103120"/>
            <a:ext cx="347471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sentence-transformers (all-MiniLM-L6-v2)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FAISS (flat IP index)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Ollama / OpenAI / Anthropic / OpenRouter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MCP Python SDK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1645920"/>
            <a:ext cx="3749039" cy="237744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0" y="175564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76AFF"/>
                </a:solidFill>
                <a:latin typeface="Segoe UI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0" y="2103120"/>
            <a:ext cx="347471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FastAPI + Pydantic v2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Uvicorn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slowapi (rate limiting)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Prometheus instrumentator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Fernet · PyJWT · bcrypt · authlib (OIDC)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60520"/>
            <a:ext cx="3749039" cy="237744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27024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76AFF"/>
                </a:solidFill>
                <a:latin typeface="Segoe UI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617720"/>
            <a:ext cx="347471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React 18 + TypeScript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Vite 5 (proxy + HMR)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Leaflet + react-leaflet (Karnataka map)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CSS variables for dark/light theme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399" y="4160520"/>
            <a:ext cx="3749039" cy="237744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1" y="427024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76AFF"/>
                </a:solidFill>
                <a:latin typeface="Segoe UI"/>
              </a:rPr>
              <a:t>Data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1" y="4617720"/>
            <a:ext cx="347471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Astram (anonymised, 8k events)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Open-Meteo · GDELT · Google News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Reddit RSS · OSRM · data.gov.in (wired)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8" y="4160520"/>
            <a:ext cx="3749039" cy="237744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0" y="427024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76AFF"/>
                </a:solidFill>
                <a:latin typeface="Segoe UI"/>
              </a:rPr>
              <a:t>DevOps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0" y="4617720"/>
            <a:ext cx="3474719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Multi-stage Dockerfile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Hugging Face Spaces (Docker SDK, 16 GB)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GitHub Actions · pytest · ruff · pip-audit · npm audit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E6E7EA"/>
                </a:solidFill>
                <a:latin typeface="Segoe UI"/>
              </a:rPr>
              <a:t>• Git LFS for model + FAISS artefacts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The Astram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Bengaluru Metropolitan Area · Nov 2023 – Apr 2024 · 150 days · 51 columns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084832" cy="118872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084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Total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376AFF"/>
                </a:solidFill>
                <a:latin typeface="Segoe UI"/>
              </a:rPr>
              <a:t>8,173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1645920"/>
            <a:ext cx="2084832" cy="118872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1783080"/>
            <a:ext cx="2084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Causes (taxonomy)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2148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2C55E"/>
                </a:solidFill>
                <a:latin typeface="Segoe UI"/>
              </a:rPr>
              <a:t>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1184" y="1645920"/>
            <a:ext cx="2084832" cy="118872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1184" y="1783080"/>
            <a:ext cx="2084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Corridors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1184" y="2148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9933"/>
                </a:solidFill>
                <a:latin typeface="Segoe UI"/>
              </a:rPr>
              <a:t>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3176" y="1645920"/>
            <a:ext cx="2084832" cy="118872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6" y="1783080"/>
            <a:ext cx="2084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Time span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2148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3366CC"/>
                </a:solidFill>
                <a:latin typeface="Segoe UI"/>
              </a:rPr>
              <a:t>150 days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5168" y="1645920"/>
            <a:ext cx="2084832" cy="118872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1783080"/>
            <a:ext cx="2084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Lat/lon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148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CC3333"/>
                </a:solidFill>
                <a:latin typeface="Segoe U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08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7EA"/>
                </a:solidFill>
                <a:latin typeface="Segoe UI"/>
              </a:rPr>
              <a:t>Closure rate varies wildly by cause — strong learning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66160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vip_movement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566160"/>
            <a:ext cx="914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C3333"/>
                </a:solidFill>
                <a:latin typeface="Segoe UI"/>
              </a:rPr>
              <a:t>80%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3630168"/>
            <a:ext cx="2286000" cy="11887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13048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public_event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813048"/>
            <a:ext cx="914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9933"/>
                </a:solidFill>
                <a:latin typeface="Segoe UI"/>
              </a:rPr>
              <a:t>46%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3877056"/>
            <a:ext cx="1314450" cy="11887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59936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protest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059936"/>
            <a:ext cx="914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9933"/>
                </a:solidFill>
                <a:latin typeface="Segoe UI"/>
              </a:rPr>
              <a:t>40%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4123944"/>
            <a:ext cx="1143000" cy="11887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306824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tree_fall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306824"/>
            <a:ext cx="914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9933"/>
                </a:solidFill>
                <a:latin typeface="Segoe UI"/>
              </a:rPr>
              <a:t>39%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31920" y="4370832"/>
            <a:ext cx="1114425" cy="11887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553712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construction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4553712"/>
            <a:ext cx="914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9933"/>
                </a:solidFill>
                <a:latin typeface="Segoe UI"/>
              </a:rPr>
              <a:t>27%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4617720"/>
            <a:ext cx="771525" cy="11887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800600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procession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4800600"/>
            <a:ext cx="914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9933"/>
                </a:solidFill>
                <a:latin typeface="Segoe UI"/>
              </a:rPr>
              <a:t>26%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4864608"/>
            <a:ext cx="742950" cy="11887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047488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water_logging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5047488"/>
            <a:ext cx="914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/>
              </a:rPr>
              <a:t>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5111496"/>
            <a:ext cx="228600" cy="1188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294376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vehicle_breakdown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5294376"/>
            <a:ext cx="914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/>
              </a:rPr>
              <a:t>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0" y="5358384"/>
            <a:ext cx="114300" cy="1188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541264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accident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5541264"/>
            <a:ext cx="914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/>
              </a:rPr>
              <a:t>3%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31920" y="5605272"/>
            <a:ext cx="85725" cy="1188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788152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pot_holes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5788152"/>
            <a:ext cx="9144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/>
              </a:rPr>
              <a:t>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31920" y="5852160"/>
            <a:ext cx="57150" cy="1188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858000" y="3108960"/>
            <a:ext cx="4937760" cy="301752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5160" y="3200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Segoe UI"/>
              </a:rPr>
              <a:t>Data quality findings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3611880"/>
            <a:ext cx="466344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• Reporting-time bias: events cluster 4-8am and 7pm-midnight, near-zero 9-5pm — a logging artifact, not real incident timing. We added an is_reporting_window feature to flag this.
• 57% of zone, 70% of junction values are NaN — corridor is the cleanest spatial feature.
• end_datetime present for only 4.7% of events — predicting duration directly would be too sparse; we predict requires_road_closure instead.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Forecast model — CatBoost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Binary classifier on requires_road_closure · class-weighted · 13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084832" cy="118872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084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ROC-AUC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22C55E"/>
                </a:solidFill>
                <a:latin typeface="Segoe UI"/>
              </a:rPr>
              <a:t>0.815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1645920"/>
            <a:ext cx="2084832" cy="118872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1783080"/>
            <a:ext cx="2084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Closure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2148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376AFF"/>
                </a:solidFill>
                <a:latin typeface="Segoe UI"/>
              </a:rPr>
              <a:t>60%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1184" y="1645920"/>
            <a:ext cx="2084832" cy="118872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1184" y="1783080"/>
            <a:ext cx="2084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1184" y="2148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9933"/>
                </a:solidFill>
                <a:latin typeface="Segoe UI"/>
              </a:rPr>
              <a:t>85%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3176" y="1645920"/>
            <a:ext cx="2084832" cy="118872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3176" y="1783080"/>
            <a:ext cx="2084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Positive base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2148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3366CC"/>
                </a:solidFill>
                <a:latin typeface="Segoe UI"/>
              </a:rPr>
              <a:t>8.3%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5168" y="1645920"/>
            <a:ext cx="2084832" cy="1188720"/>
          </a:xfrm>
          <a:prstGeom prst="roundRect">
            <a:avLst>
              <a:gd name="adj" fmla="val 7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1783080"/>
            <a:ext cx="2084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Inference (cpu)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148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CC3333"/>
                </a:solidFill>
                <a:latin typeface="Segoe UI"/>
              </a:rPr>
              <a:t>~3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7EA"/>
                </a:solidFill>
                <a:latin typeface="Segoe UI"/>
              </a:rPr>
              <a:t>Feature importance (top 10)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66160"/>
            <a:ext cx="20116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longitude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3566160"/>
            <a:ext cx="6400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/>
              </a:rPr>
              <a:t>13.5%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630168"/>
            <a:ext cx="2645228" cy="1188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13048"/>
            <a:ext cx="20116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police_station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813048"/>
            <a:ext cx="6400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/>
              </a:rPr>
              <a:t>12.4%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3877056"/>
            <a:ext cx="2429691" cy="1188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59936"/>
            <a:ext cx="20116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event_cause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059936"/>
            <a:ext cx="6400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/>
              </a:rPr>
              <a:t>11.6%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4123944"/>
            <a:ext cx="2272937" cy="1188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306824"/>
            <a:ext cx="20116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latitude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306824"/>
            <a:ext cx="6400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/>
              </a:rPr>
              <a:t>10.6%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08960" y="4370832"/>
            <a:ext cx="2076994" cy="1188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553712"/>
            <a:ext cx="20116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hour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4553712"/>
            <a:ext cx="6400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/>
              </a:rPr>
              <a:t>10.4%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0" y="4617720"/>
            <a:ext cx="2037805" cy="1188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800600"/>
            <a:ext cx="20116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corridor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4800600"/>
            <a:ext cx="6400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/>
              </a:rPr>
              <a:t>9.3%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4864608"/>
            <a:ext cx="1822268" cy="1188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047488"/>
            <a:ext cx="20116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zone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047488"/>
            <a:ext cx="6400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/>
              </a:rPr>
              <a:t>8.5%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60" y="5111496"/>
            <a:ext cx="1665514" cy="1188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294376"/>
            <a:ext cx="20116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dow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5294376"/>
            <a:ext cx="6400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/>
              </a:rPr>
              <a:t>5.9%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08960" y="5358384"/>
            <a:ext cx="1156062" cy="1188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541264"/>
            <a:ext cx="20116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month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5541264"/>
            <a:ext cx="6400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/>
              </a:rPr>
              <a:t>5.8%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5605272"/>
            <a:ext cx="1136468" cy="1188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788152"/>
            <a:ext cx="20116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junction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5788152"/>
            <a:ext cx="64008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/>
              </a:rPr>
              <a:t>5.2%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5852160"/>
            <a:ext cx="1018902" cy="1188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858000" y="3108960"/>
            <a:ext cx="4937760" cy="301752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5160" y="3200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76AFF"/>
                </a:solidFill>
                <a:latin typeface="Segoe UI"/>
              </a:rPr>
              <a:t>Why CatBoost over XGBoost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3611880"/>
            <a:ext cx="466344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8 categorical columns dominate this dataset (cause, corridor, junction, police_station, zone, priority). CatBoost handles them natively — no OrdinalEncoder, no one-hot blowup.
Tested SMOTE-NC synthetic oversampling vs class_weights — class_weights won on AUC (0.815 vs 0.783) and recall (60% vs 30%). SMOTE-NC trick buys precision at recall's cost, which is wrong for ops where missing a closure is far worse than a false alarm.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Rule-based planner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Closure probability → concrete operational outputs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657600" cy="438912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366CC"/>
                </a:solidFill>
                <a:latin typeface="Segoe UI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338328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• event_cause (e.g. vip_movement)
• corridor (e.g. Mysore Road)
• hour-of-day, weekend flag
• closure_prob (from CatBoost)
• lat / lon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645920"/>
            <a:ext cx="3657600" cy="438912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7373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9933"/>
                </a:solidFill>
                <a:latin typeface="Segoe UI"/>
              </a:rPr>
              <a:t>Rules (tunable)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148840"/>
            <a:ext cx="338328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expected_crowd = base[cause] × hour_factor × weekend_factor
barricades = ⌈prob × cause_severity × 5⌉
officers = ⌈crowd / 200⌉ + ⌈barricades / 3⌉
severity_score = clip(prob × cause_severity / 3, 0, 1)
diversion = nearest corridor centroid (≠ event corridor)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64592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39" y="17373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Segoe UI"/>
              </a:rPr>
              <a:t>Outputs (per event)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39" y="2148840"/>
            <a:ext cx="356616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• expected_crowd
• barricades_needed
• officers_needed
• severity_score (0–1)
• diversion_corridor
• diversion_lat, diversion_lon
Example — VIP movement on Mysore Road at 18:00 →
  crowd 1,500 · barricades 15 · officers 10 · divert to ORR West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Diversion routes — real driving paths via OSRM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Not straight lines · 24h-cached · self-hostable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C3333"/>
                </a:solidFill>
                <a:latin typeface="Segoe UI"/>
              </a:rPr>
              <a:t>Before — straight Euclidean line: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E6E7EA"/>
                </a:solidFill>
                <a:latin typeface="Segoe UI"/>
              </a:rPr>
              <a:t>Event</a:t>
            </a:r>
          </a:p>
        </p:txBody>
      </p:sp>
      <p:sp>
        <p:nvSpPr>
          <p:cNvPr id="9" name="Oval 8"/>
          <p:cNvSpPr/>
          <p:nvPr/>
        </p:nvSpPr>
        <p:spPr>
          <a:xfrm>
            <a:off x="5029200" y="265176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017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E6E7EA"/>
                </a:solidFill>
                <a:latin typeface="Segoe UI"/>
              </a:rPr>
              <a:t>Diversion target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359152"/>
            <a:ext cx="4251960" cy="457200"/>
          </a:xfrm>
          <a:prstGeom prst="line">
            <a:avLst/>
          </a:prstGeom>
          <a:ln w="254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Segoe UI"/>
              </a:rPr>
              <a:t>After — real road route from OSRM: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0" y="4572000"/>
            <a:ext cx="320040" cy="3200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77240" y="4297680"/>
            <a:ext cx="685800" cy="137160"/>
          </a:xfrm>
          <a:prstGeom prst="line">
            <a:avLst/>
          </a:prstGeom>
          <a:ln w="381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63040" y="4114800"/>
            <a:ext cx="640080" cy="320040"/>
          </a:xfrm>
          <a:prstGeom prst="line">
            <a:avLst/>
          </a:prstGeom>
          <a:ln w="381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03120" y="4114800"/>
            <a:ext cx="640080" cy="365760"/>
          </a:xfrm>
          <a:prstGeom prst="line">
            <a:avLst/>
          </a:prstGeom>
          <a:ln w="381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743200" y="4251960"/>
            <a:ext cx="731520" cy="228600"/>
          </a:xfrm>
          <a:prstGeom prst="line">
            <a:avLst/>
          </a:prstGeom>
          <a:ln w="381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74720" y="4251960"/>
            <a:ext cx="640080" cy="320040"/>
          </a:xfrm>
          <a:prstGeom prst="line">
            <a:avLst/>
          </a:prstGeom>
          <a:ln w="381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114800" y="4389120"/>
            <a:ext cx="731520" cy="182880"/>
          </a:xfrm>
          <a:prstGeom prst="line">
            <a:avLst/>
          </a:prstGeom>
          <a:ln w="381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0" y="1737360"/>
            <a:ext cx="4937760" cy="438912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18288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76AFF"/>
                </a:solidFill>
                <a:latin typeface="Segoe UI"/>
              </a:rPr>
              <a:t>Why this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240280"/>
            <a:ext cx="466344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Straight lines look right on a map but route officers through buildings, lakes, and one-ways.
OSRM (Project-OSRM) returns the actual driving polyline — typically 200-300 GPS points for a Bengaluru corridor.
Cached in our SQLite layer for 24 h since corridor centroids barely shift over a day.
Public demo server by default; production self-hosts via OSRM_HOST=http://localhost:5000 (one docker run).
If the routing API is unreachable, we fall back to a straight line with a dashed style — the map legend shows both.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Ground every LLM briefing in actual precedent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97480" cy="118872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2697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76AFF"/>
                </a:solidFill>
                <a:latin typeface="Segoe UI"/>
              </a:rPr>
              <a:t>Query
'protest near MG Road'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54680" y="2240280.0"/>
            <a:ext cx="118872" cy="0.0"/>
          </a:xfrm>
          <a:prstGeom prst="bentConnector3">
            <a:avLst/>
          </a:prstGeom>
          <a:ln w="25400">
            <a:solidFill>
              <a:srgbClr val="9AA0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73552" y="1645920"/>
            <a:ext cx="2697480" cy="118872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1645920"/>
            <a:ext cx="2697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9933"/>
                </a:solidFill>
                <a:latin typeface="Segoe UI"/>
              </a:rPr>
              <a:t>all-MiniLM-L6-v2
embed → 384 dim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71032" y="2240280.0"/>
            <a:ext cx="118872" cy="0.0"/>
          </a:xfrm>
          <a:prstGeom prst="bentConnector3">
            <a:avLst/>
          </a:prstGeom>
          <a:ln w="25400">
            <a:solidFill>
              <a:srgbClr val="9AA0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89904" y="1645920"/>
            <a:ext cx="2697480" cy="118872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9904" y="1645920"/>
            <a:ext cx="2697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2C55E"/>
                </a:solidFill>
                <a:latin typeface="Segoe UI"/>
              </a:rPr>
              <a:t>FAISS flat IP
8,219 docs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87384" y="2240280.0"/>
            <a:ext cx="118872" cy="0.0"/>
          </a:xfrm>
          <a:prstGeom prst="bentConnector3">
            <a:avLst/>
          </a:prstGeom>
          <a:ln w="25400">
            <a:solidFill>
              <a:srgbClr val="9AA0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906256" y="1645920"/>
            <a:ext cx="2697480" cy="118872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6256" y="1645920"/>
            <a:ext cx="2697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C3333"/>
                </a:solidFill>
                <a:latin typeface="Segoe UI"/>
              </a:rPr>
              <a:t>Top-k similar past events
(score 0.55-0.70)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7EA"/>
                </a:solidFill>
                <a:latin typeface="Segoe UI"/>
              </a:rPr>
              <a:t>Corpus mix · 8,219 docs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10911387" cy="45720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109113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76AFF"/>
                </a:solidFill>
                <a:latin typeface="Segoe UI"/>
              </a:rPr>
              <a:t>Astram events (8,173)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368587" y="3657600"/>
            <a:ext cx="40051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68587" y="4206240"/>
            <a:ext cx="400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22C55E"/>
                </a:solidFill>
                <a:latin typeface="Segoe UI"/>
              </a:rPr>
              <a:t>News articles (30)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08638" y="3657600"/>
            <a:ext cx="21360" cy="4572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08638" y="4206240"/>
            <a:ext cx="2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9933"/>
                </a:solidFill>
                <a:latin typeface="Segoe UI"/>
              </a:rPr>
              <a:t>Reddit posts (16)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6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029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76AFF"/>
                </a:solidFill>
                <a:latin typeface="Segoe UI"/>
              </a:rPr>
              <a:t>Why this works for traffic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Past 'tree_fall on Hennur Main Road' events tell the model what really happened last time — average duration, whether closure was needed, what diversion was actually used. The LLM weaves those facts into the briefing so the officer sees evidence, not just a forecast.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Agentic orchestrator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One query → six-step pipeline → one operator-ready briefing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45920"/>
            <a:ext cx="548640" cy="54864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9933"/>
                </a:solidFill>
                <a:latin typeface="Segoe UI"/>
              </a:rP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3736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LLM parses NL query → JSON attrs (cause, corridor, hour, weekend, lat/lon)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42316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4688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Segoe UI"/>
              </a:rPr>
              <a:t>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1460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CatBoost predicts closure_prob in ~3 ms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200400"/>
            <a:ext cx="548640" cy="548640"/>
          </a:xfrm>
          <a:prstGeom prst="ellipse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461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366CC"/>
                </a:solidFill>
                <a:latin typeface="Segoe UI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9184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Planner converts prob → crowd, barricades, officers, diversion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977639"/>
            <a:ext cx="548640" cy="548640"/>
          </a:xfrm>
          <a:prstGeom prst="ellipse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77639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23359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76AFF"/>
                </a:solidFill>
                <a:latin typeface="Segoe UI"/>
              </a:rPr>
              <a:t>Retrieve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069079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FAISS pulls top-3 similar past events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754880"/>
            <a:ext cx="548640" cy="54864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006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9933"/>
                </a:solidFill>
                <a:latin typeface="Segoe UI"/>
              </a:rPr>
              <a:t>Ground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84632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Pulls live weather + matching news headlines for the corridor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5532120"/>
            <a:ext cx="548640" cy="54864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5321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5778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C3333"/>
                </a:solidFill>
                <a:latin typeface="Segoe UI"/>
              </a:rPr>
              <a:t>Brief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62356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LLM writes a 4-6 sentence briefing using ALL of the above as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Model Context Protocol (MCP)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Expose every tool to AI agents (Claude Desktop, custom) · dual-auth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76AFF"/>
                </a:solidFill>
                <a:latin typeface="Segoe UI"/>
              </a:rPr>
              <a:t>9 tools (stdio + streamable HTTP)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521208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forecast_closure(event_attrs) → prob
plan_resources(event, prob)   → plan
forecast_and_plan(event)      → combined
retrieve_similar_events(q, k) → RAG
get_weather(lat, lon, hours)  → Open-Meteo
get_news(q, limit)            → Google News
get_reddit(q, limit, days)    → Reddit RSS
get_gdelt(q, limit, timespan) → GDELT
erase_event(event_id)         → GDPR Art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486400" cy="438912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Segoe UI"/>
              </a:rPr>
              <a:t>Dual-authentication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521208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Human operators → JWT bearer tokens
  aud=api · roles: viewer / operator / admin
  used by FastAPI dashboard endpoints
AI agents → MCP-scoped JWT tokens
  aud=mcp · role=mcp_agent · scoped tool list
  used by MCP HTTP middleware on every call
Cross-audience use is rejected at the JWT layer
(InvalidAudienceError). Every tool call is audit-logged with
actor identity and aud claim.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Real-time data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Five free public sources · TTL-cached · grounded to Karnataka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474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  <a:latin typeface="Segoe UI"/>
              </a:rPr>
              <a:t>Open-Meteo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3474719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Hourly forecast at any lat/lon
No API key · 1h cache
Feeds: chat briefing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399" y="164592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737360"/>
            <a:ext cx="3474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9933"/>
                </a:solidFill>
                <a:latin typeface="Segoe UI"/>
              </a:rPr>
              <a:t>Google News RSS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48840"/>
            <a:ext cx="3474719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India locale (hl=en-IN, gl=IN)
45 articles per query, 30min cache
Auto-grounded with 'Bengaluru' when query lacks anchor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164592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8" y="1737360"/>
            <a:ext cx="3474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C3333"/>
                </a:solidFill>
                <a:latin typeface="Segoe UI"/>
              </a:rPr>
              <a:t>Reddit RSS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8" y="2148840"/>
            <a:ext cx="3474719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r/bangalore, r/karnataka, r/india, r/IndiaSpeaks
Word-boundary keyword filter
30min cache (RSS, not API — JSON 403s now)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6052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3474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76AFF"/>
                </a:solidFill>
                <a:latin typeface="Segoe UI"/>
              </a:rPr>
              <a:t>GDELT 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63440"/>
            <a:ext cx="3474719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Local news event detection (last 24h)
Knows about protests, accidents in near-real-time
Free, no key, 30min cache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399" y="416052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4251960"/>
            <a:ext cx="3474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366CC"/>
                </a:solidFill>
                <a:latin typeface="Segoe UI"/>
              </a:rPr>
              <a:t>data.gov.in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4663440"/>
            <a:ext cx="3474719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Karnataka accident/traffic datasets
Wired, key-pending
Fails gracefully when key missing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8" y="416052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8" y="4251960"/>
            <a:ext cx="3474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AA0A8"/>
                </a:solidFill>
                <a:latin typeface="Segoe UI"/>
              </a:rPr>
              <a:t>BTP advisories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8" y="4663440"/>
            <a:ext cx="3474719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btp.karnataka.gov.in scrape
JS-rendered table — deferred
GDELT covers BTP coverage via news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LLM backends — runtime switchable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Local-first by default · cloud fallbacks for production · admin-only swap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669280" cy="210312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Segoe UI"/>
              </a:rPr>
              <a:t>Ollama (local)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53949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Auto-detected via http://localhost:11434
Default when reachable
qwen3:1.7b (1.4 GB) shipped; pull any model from the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76479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76479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Free · Private · GDPR-clean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45920"/>
            <a:ext cx="5669280" cy="210312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76AFF"/>
                </a:solidFill>
                <a:latin typeface="Segoe UI"/>
              </a:rPr>
              <a:t>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53949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gpt-4o-mini / gpt-4o
OPENAI_API_KEY in .env or via UI
USD per token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176479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176479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Best quality · Cross-border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86200"/>
            <a:ext cx="5669280" cy="210312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776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9933"/>
                </a:solidFill>
                <a:latin typeface="Segoe UI"/>
              </a:rPr>
              <a:t>Anthropic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89120"/>
            <a:ext cx="53949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claude-haiku-4-5 / sonnet-4-6 / opus-4-7
ANTHROPIC_API_KEY
USD per token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400507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400507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Strong reasoning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886200"/>
            <a:ext cx="5669280" cy="210312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776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366CC"/>
                </a:solidFill>
                <a:latin typeface="Segoe UI"/>
              </a:rPr>
              <a:t>OpenRouter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89120"/>
            <a:ext cx="53949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Any model from one key · :free tier available
llama-3.3-70b-instruct:free, gemini-2.0-flash-exp:free
0 USD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400507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4005072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Multi-model · Free tier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AA0A8"/>
                </a:solidFill>
                <a:latin typeface="Segoe UI"/>
              </a:rPr>
              <a:t>Test key → Save settings → runtime swap · No restart · Probe rejects bad keys with the actual provider 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Security &amp; compliance — ISO 27001 Annex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Implemented as working code, not documentation theatre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6AFF"/>
                </a:solidFill>
                <a:latin typeface="Segoe UI"/>
              </a:rPr>
              <a:t>A.5.1 ·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164592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SECURITY.md + DPIA.md + RUNBOOK.md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Segoe UI"/>
              </a:rPr>
              <a:t>A.8.2 ·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0116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Every field tagged public / internal / sensitive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Segoe UI"/>
              </a:rPr>
              <a:t>A.8.3 ·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37744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classify.project(row, role) auto-drops fields above clearance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9933"/>
                </a:solidFill>
                <a:latin typeface="Segoe UI"/>
              </a:rPr>
              <a:t>A.9.2 · Access mgmt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7432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JWT bearer + Depends(require_role('admin'|'operator'|'viewer'))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9933"/>
                </a:solidFill>
                <a:latin typeface="Segoe UI"/>
              </a:rPr>
              <a:t>A.9.4 · Source/program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10896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Secrets via .env (gitignored) + get_secret() helper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C3333"/>
                </a:solidFill>
                <a:latin typeface="Segoe UI"/>
              </a:rPr>
              <a:t>A.10.1 · Cryptography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47472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Fernet (AES-128-CBC + HMAC-SHA256) for sensitive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366CC"/>
                </a:solidFill>
                <a:latin typeface="Segoe UI"/>
              </a:rPr>
              <a:t>A.12.3 · Backups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8404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scripts/backup.{ps1,sh} → tgz of data + models +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366CC"/>
                </a:solidFill>
                <a:latin typeface="Segoe UI"/>
              </a:rPr>
              <a:t>A.12.4 · Audit logging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20624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Structured JSON per UTC day in logs/audit-*.jsonl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6AFF"/>
                </a:solidFill>
                <a:latin typeface="Segoe UI"/>
              </a:rPr>
              <a:t>A.13.1 ·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5720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Caddyfile + docker-compose.prod.yml = HTTPS + HSTS auto-LE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377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Segoe UI"/>
              </a:rPr>
              <a:t>A.14.2.5 · Secure dev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93776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Pydantic v2 validation on every API 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035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C3333"/>
                </a:solidFill>
                <a:latin typeface="Segoe UI"/>
              </a:rPr>
              <a:t>A.16.1 · Incident mgmt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530352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RUNBOOK.md: credential compromise, PII leak, model drift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69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9933"/>
                </a:solidFill>
                <a:latin typeface="Segoe UI"/>
              </a:rPr>
              <a:t>A.18.1.4 · Privacy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566928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PII regex stripper at ingest (phone, Aadhaar, PAN, ...)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GDPR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Privacy by design · operational — not just policy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00400" cy="457200"/>
          </a:xfrm>
          <a:prstGeom prst="roundRect">
            <a:avLst>
              <a:gd name="adj" fmla="val 30000"/>
            </a:avLst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992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Art 5(1)(c) · Data minimisation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3736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PII stripper applied at scraper boundary, not after. Classification registry caps field exposure per role.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50008"/>
            <a:ext cx="3200400" cy="45720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5000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Art 5(1)(e) · Storage limitation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37744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retention.run() purges audit logs &gt; 365d and scrape cache &gt; 30d. Configurable via env.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90088"/>
            <a:ext cx="3200400" cy="457200"/>
          </a:xfrm>
          <a:prstGeom prst="roundRect">
            <a:avLst>
              <a:gd name="adj" fmla="val 30000"/>
            </a:avLst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9008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Art 17 · Right to erasure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01752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erasure.erase(event_id) atomically removes from CSV + FAISS index + cache. Admin role + audit-logged.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30168"/>
            <a:ext cx="3200400" cy="457200"/>
          </a:xfrm>
          <a:prstGeom prst="roundRect">
            <a:avLst>
              <a:gd name="adj" fmla="val 30000"/>
            </a:avLst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3016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Art 25 · Privacy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65760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PII patterns: phones (+91-aware), Aadhaar, vehicle registration, email, PAN. scan() lets us count residual hits without leaking values.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70248"/>
            <a:ext cx="3200400" cy="457200"/>
          </a:xfrm>
          <a:prstGeom prst="roundRect">
            <a:avLst>
              <a:gd name="adj" fmla="val 30000"/>
            </a:avLst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7024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Art 30 · Records of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29768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Audit log captures actor, action, resource, outcome, custom fields. Append-only, host + pid tagged.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10328"/>
            <a:ext cx="3200400" cy="45720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91032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Art 32 · Security of 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93776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Fernet at rest, JWT in transit, classified access, bcrypt-hashed passwords (≥ 8 chars). Rate-limited endpoints.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50408"/>
            <a:ext cx="3200400" cy="457200"/>
          </a:xfrm>
          <a:prstGeom prst="roundRect">
            <a:avLst>
              <a:gd name="adj" fmla="val 30000"/>
            </a:avLst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550408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Art 35 · DPIA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57784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DPIA.md documents lawful basis, categories of data, risk register, mitigation, data subject rights.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Authentication &amp; authorisation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Three roles · two token types · OIDC-ready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474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366CC"/>
                </a:solidFill>
                <a:latin typeface="Segoe UI"/>
              </a:rPr>
              <a:t>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3474719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Read-only.
• See events (public + internal fields, no PII)
• See state metrics
• Cannot run forecasts or 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399" y="164592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737360"/>
            <a:ext cx="3474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376AFF"/>
                </a:solidFill>
                <a:latin typeface="Segoe UI"/>
              </a:rPr>
              <a:t>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48840"/>
            <a:ext cx="3474719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Everything Viewer + can:
• Run /forecast, /plan, /chat (LLM)
• See address, priority, plan details
• Hit RAG retrieval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164592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8" y="1737360"/>
            <a:ext cx="3474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C3333"/>
                </a:solidFill>
                <a:latin typeface="Segoe UI"/>
              </a:rP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8" y="2148840"/>
            <a:ext cx="3474719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Everything Operator + can:
• Erase events (GDPR Art 17)
• Change LLM mode/model/keys at runtime
• Pull Ollama models · See sensitive fields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60520"/>
            <a:ext cx="5669280" cy="219456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76AFF"/>
                </a:solidFill>
                <a:latin typeface="Segoe UI"/>
              </a:rPr>
              <a:t>Human JWT (aud=api)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63440"/>
            <a:ext cx="53949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Issued by /auth/login or /auth/signup
Bcrypt-verified passwords (min 8 chars)
TTL 1h
Role in claims, enforced by Depends(require_role(...))
OIDC scaffold (Google/Microsoft) ready via OIDC_PROVIDER env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16052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519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Segoe UI"/>
              </a:rPr>
              <a:t>MCP agent token (aud=mcp)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52120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Issued by admin via scripts/issue_mcp_token.py
role=mcp_agent · scoped tool list in claims
TTL 24h default
Enforced by ASGI middleware on the MCP HTTP transport
Cross-audience use rejected with InvalidAudienceError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Operator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Karnataka-wide map · live signals · in-line LLM briefing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749039" cy="320040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474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76AFF"/>
                </a:solidFill>
                <a:latin typeface="Segoe UI"/>
              </a:rPr>
              <a:t>Sidebar (left)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3474719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• Natural-language query box
• Filters: cause, corridor, severity slider, date range
• State KPIs: events, severe %, total crowd, officers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399" y="1645920"/>
            <a:ext cx="3749039" cy="320040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737360"/>
            <a:ext cx="3474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Segoe UI"/>
              </a:rPr>
              <a:t>Map (center)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48840"/>
            <a:ext cx="3474719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• Karnataka view (zoom 7) with Leaflet + CartoDB tiles
• Severity-coloured circle markers
• OSRM diversion polylines (top 25 severe events)
• Map legend explaining every symbol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1645920"/>
            <a:ext cx="3749039" cy="320040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8" y="1737360"/>
            <a:ext cx="34747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9933"/>
                </a:solidFill>
                <a:latin typeface="Segoe UI"/>
              </a:rPr>
              <a:t>Right pane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8" y="2148840"/>
            <a:ext cx="3474719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• Live signals (news + Reddit + weather, 60s refresh)
• Briefing output: extracted attrs, plan KPIs, officer text
• Selected-event details with admin erasure button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Dark / Light theme toggle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5029200"/>
            <a:ext cx="4608576" cy="2926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5029200"/>
            <a:ext cx="460857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Mobile-responsive (1100 / 768 breakpoints)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5029200"/>
            <a:ext cx="5815583" cy="2926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3296" y="5029200"/>
            <a:ext cx="5815583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Karnataka Police branded login with custom SVG emblem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86400"/>
            <a:ext cx="5596128" cy="2926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559612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Sign up + Login tabs · role chooser · bcrypt-hashed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5486400"/>
            <a:ext cx="5047488" cy="2926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5486400"/>
            <a:ext cx="504748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LLM settings modal (admin) with Test key probe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375136" y="5486400"/>
            <a:ext cx="2523744" cy="2926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75136" y="5486400"/>
            <a:ext cx="252374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Demo accounts auto-fill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Map legend — every symbol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Operator can interpret the map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0A8"/>
                </a:solidFill>
                <a:latin typeface="Segoe UI"/>
              </a:rPr>
              <a:t>LEGEND (as shown in app, bottom-left)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182880" cy="18288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Event required road closure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0A8"/>
                </a:solidFill>
                <a:latin typeface="Segoe UI"/>
              </a:rPr>
              <a:t>requires_road_closure = True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51760"/>
            <a:ext cx="182880" cy="182880"/>
          </a:xfrm>
          <a:prstGeom prst="ellipse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Event did not close road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0A8"/>
                </a:solidFill>
                <a:latin typeface="Segoe UI"/>
              </a:rPr>
              <a:t>requires_road_closure =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54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Size = predicted severity (low → high)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566160"/>
            <a:ext cx="137160" cy="13716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3566160"/>
            <a:ext cx="228600" cy="22860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554480" y="3566160"/>
            <a:ext cx="365760" cy="36576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6E7EA"/>
                </a:solidFill>
                <a:latin typeface="Segoe UI"/>
              </a:rPr>
              <a:t>Diversion routes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4800600"/>
            <a:ext cx="1097280" cy="0"/>
          </a:xfrm>
          <a:prstGeom prst="line">
            <a:avLst/>
          </a:prstGeom>
          <a:ln w="3810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45920" y="46634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Solid · OSRM (real driving path)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5120640"/>
            <a:ext cx="1097280" cy="0"/>
          </a:xfrm>
          <a:prstGeom prst="line">
            <a:avLst/>
          </a:prstGeom>
          <a:ln w="25400">
            <a:solidFill>
              <a:srgbClr val="22C55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45920" y="4983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Dashed · straight-line fallback (routing unavailable)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645920"/>
            <a:ext cx="4937760" cy="438912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17373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76AFF"/>
                </a:solidFill>
                <a:latin typeface="Segoe UI"/>
              </a:rPr>
              <a:t>Why design legends matter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148840"/>
            <a:ext cx="466344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Operators glance at the map for ~5 seconds before acting. Without a legend, a red dot looks like an alert, not a confirmed closure. A big red circle could mean either size = severity or that the event is severe regardless of size.
We made the encoding explicit so on-duty officers can read the map without training.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Quality — tests, lint,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43 tests · ~22 s · no network deps · GitHub Actions on every push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6AFF"/>
                </a:solidFill>
                <a:latin typeface="Consolas"/>
              </a:rPr>
              <a:t>test_security.py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6459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Segoe UI"/>
              </a:rPr>
              <a:t>12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45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PII regexes, JWT both-audiences, classification, Fernet,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6AFF"/>
                </a:solidFill>
                <a:latin typeface="Consolas"/>
              </a:rPr>
              <a:t>test_planner.py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Segoe UI"/>
              </a:rPr>
              <a:t>7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011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Severity monotonicity, crowd by cause, weekend factor, diversion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6AFF"/>
                </a:solidFill>
                <a:latin typeface="Consolas"/>
              </a:rPr>
              <a:t>test_data.py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774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Segoe UI"/>
              </a:rPr>
              <a:t>6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77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preprocess clean/featurize, cache get/put/expiry/purge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6AFF"/>
                </a:solidFill>
                <a:latin typeface="Consolas"/>
              </a:rPr>
              <a:t>test_rag.py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743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Segoe UI"/>
              </a:rPr>
              <a:t>3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432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Retrieve top-k, score order, correct cause for known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6AFF"/>
                </a:solidFill>
                <a:latin typeface="Consolas"/>
              </a:rPr>
              <a:t>test_orchestrator.py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0896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Segoe UI"/>
              </a:rPr>
              <a:t>1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108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End-to-end pipeline with monkeypatched run_llm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74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6AFF"/>
                </a:solidFill>
                <a:latin typeface="Consolas"/>
              </a:rPr>
              <a:t>test_api.py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4747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Segoe UI"/>
              </a:rPr>
              <a:t>9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474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FastAPI TestClient: roles, password bcrypt, role gating, signup, erasure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404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6AFF"/>
                </a:solidFill>
                <a:latin typeface="Consolas"/>
              </a:rPr>
              <a:t>test_smoke.py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8404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Segoe UI"/>
              </a:rPr>
              <a:t>1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840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Imports every module to catch path/syntax breakage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76AFF"/>
                </a:solidFill>
                <a:latin typeface="Consolas"/>
              </a:rPr>
              <a:t>conftest.py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20624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C55E"/>
                </a:solidFill>
                <a:latin typeface="Segoe UI"/>
              </a:rPr>
              <a:t>fixtures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206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Temp AUTH_SECRET, isolated cache, isolated audit 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54880"/>
            <a:ext cx="11247120" cy="164592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846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Segoe UI"/>
              </a:rPr>
              <a:t>GitHub Actions 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2578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On every push / PR — ruff lint · pytest · Docker backend build · Docker frontend build · pip-audit · npm audit
Build matrix pinned to Python 3.11 · Node 20 · ubuntu-latest
Audit jobs are advisory at this maturity (continue-on-error) — flip the toggle when v1.0 ships.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91440" cy="502920"/>
          </a:xfrm>
          <a:prstGeom prst="rect">
            <a:avLst/>
          </a:prstGeom>
          <a:solidFill>
            <a:srgbClr val="37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7EA"/>
                </a:solidFill>
                <a:latin typeface="Segoe UI"/>
              </a:rPr>
              <a:t>Deployment — Hugging Face Spaces (Docker)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8"/>
                </a:solidFill>
                <a:latin typeface="Segoe UI"/>
              </a:rPr>
              <a:t>Free · 16 GB RAM · always-on · one container, one 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7EA"/>
                </a:solidFill>
                <a:latin typeface="Segoe UI"/>
              </a:rPr>
              <a:t>Multi-stage Dockerfile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3657600" cy="164592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36576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9933"/>
                </a:solidFill>
                <a:latin typeface="Segoe UI"/>
              </a:rPr>
              <a:t>Stage 1
node:20-alpine
Vite build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2926080.0"/>
            <a:ext cx="137160" cy="0.0"/>
          </a:xfrm>
          <a:prstGeom prst="bentConnector3">
            <a:avLst/>
          </a:prstGeom>
          <a:ln w="25400">
            <a:solidFill>
              <a:srgbClr val="9AA0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51960" y="2103120"/>
            <a:ext cx="3657600" cy="164592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103120"/>
            <a:ext cx="36576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76AFF"/>
                </a:solidFill>
                <a:latin typeface="Segoe UI"/>
              </a:rPr>
              <a:t>Stage 2
python:3.11-slim
pip install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09560" y="2926080.0"/>
            <a:ext cx="137160" cy="0.0"/>
          </a:xfrm>
          <a:prstGeom prst="bentConnector3">
            <a:avLst/>
          </a:prstGeom>
          <a:ln w="25400">
            <a:solidFill>
              <a:srgbClr val="9AA0A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46720" y="2103120"/>
            <a:ext cx="3657600" cy="164592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6576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2C55E"/>
                </a:solidFill>
                <a:latin typeface="Segoe UI"/>
              </a:rPr>
              <a:t>Stage 3 (runtime)
FastAPI + Uvicorn
+ React static
+ FAISS index
+ CatBoost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1148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366CC"/>
                </a:solidFill>
                <a:latin typeface="Segoe UI"/>
              </a:rPr>
              <a:t>Secrets (HF Settings → Variables and secrets)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6280"/>
            <a:ext cx="521208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• AUTH_SECRET (JWT signing, ≥ 32 bytes)
• CRYPTO_KEY (Fernet key for at-rest encryption)
• LLM_MODE=openrouter (Ollama not available on HF free)
• OPENROUTER_API_KEY (free $1 credit on signup)
• OPENROUTER_MODEL=meta-llama/llama-3.3-70b-instruct:free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023360"/>
            <a:ext cx="5669280" cy="2377440"/>
          </a:xfrm>
          <a:prstGeom prst="roundRect">
            <a:avLst>
              <a:gd name="adj" fmla="val 6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1148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76AFF"/>
                </a:solidFill>
                <a:latin typeface="Segoe UI"/>
              </a:rPr>
              <a:t>Why HF Spaces over Render / Vercel / Railway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526280"/>
            <a:ext cx="539496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6E7EA"/>
                </a:solidFill>
                <a:latin typeface="Segoe UI"/>
              </a:rPr>
              <a:t>Render free (512 MB) OOMs on PyTorch + sentence-transformers.
Vercel serverless can't run 10-15s LLM calls.
Railway works but burns $5 credit in ~2 weeks.
HF Spaces: 16 GB CPU, always-on, free forever — designed for ML demos.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Karnataka Event Traffic AI · Flipkart Hackathon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9144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3593" cy="9144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AA0A8"/>
                </a:solidFill>
                <a:latin typeface="Segoe UI"/>
              </a:rPr>
              <a:t>Live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22C55E"/>
                </a:solidFill>
                <a:latin typeface="Consolas"/>
              </a:rPr>
              <a:t>https://debxorion-flipkart-hackathon-project.hf.space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AA0A8"/>
                </a:solidFill>
                <a:latin typeface="Segoe UI"/>
              </a:rPr>
              <a:t>Source code on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376AFF"/>
                </a:solidFill>
                <a:latin typeface="Consolas"/>
              </a:rPr>
              <a:t>github.com/deb-X-2005/Flipkart_hackathon_project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AA0A8"/>
                </a:solidFill>
                <a:latin typeface="Segoe UI"/>
              </a:rPr>
              <a:t>Try the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39319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0233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Consolas"/>
              </a:rPr>
              <a:t>admin / admin123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4348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full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39319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40233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Consolas"/>
              </a:rPr>
              <a:t>operator / operator123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4348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forecasts +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39319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0233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Consolas"/>
              </a:rPr>
              <a:t>viewer / viewer123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4348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0A8"/>
                </a:solidFill>
                <a:latin typeface="Segoe UI"/>
              </a:rPr>
              <a:t>read-only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E6E7EA"/>
                </a:solidFill>
                <a:latin typeface="Segoe UI"/>
              </a:rPr>
              <a:t>Thank you · Questions?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Segoe UI"/>
              </a:rPr>
              <a:t>Built for Bengaluru Traffic Police · Flipkart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